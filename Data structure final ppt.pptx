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71" r:id="rId11"/>
    <p:sldId id="267" r:id="rId12"/>
    <p:sldId id="268" r:id="rId13"/>
    <p:sldId id="269" r:id="rId14"/>
    <p:sldId id="270" r:id="rId15"/>
  </p:sldIdLst>
  <p:sldSz cx="9144000" cy="5143500" type="screen16x9"/>
  <p:notesSz cx="6797675" cy="9926638"/>
  <p:embeddedFontLst>
    <p:embeddedFont>
      <p:font typeface="Gill Sans" panose="02000000000000000000" pitchFamily="2"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xrI6LJElfsNniLfgDDLIgw5qah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2.fntdata" /><Relationship Id="rId26"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1.fntdata"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customschemas.google.com/relationships/presentationmetadata" Target="metadata"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14" name="Google Shape;114;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22" name="Google Shape;122;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29" name="Google Shape;129;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36" name="Google Shape;136;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43" name="Google Shape;143;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50" name="Google Shape;150;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64" name="Google Shape;164;p9: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71" name="Google Shape;171;p10: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85" name="Google Shape;185;p1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92" name="Google Shape;192;p1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199" name="Google Shape;199;p1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5:notes"/>
          <p:cNvSpPr txBox="1">
            <a:spLocks noGrp="1"/>
          </p:cNvSpPr>
          <p:nvPr>
            <p:ph type="body" idx="1"/>
          </p:nvPr>
        </p:nvSpPr>
        <p:spPr>
          <a:xfrm>
            <a:off x="679450" y="4714875"/>
            <a:ext cx="5438775" cy="4465638"/>
          </a:xfrm>
          <a:prstGeom prst="rect">
            <a:avLst/>
          </a:prstGeom>
        </p:spPr>
        <p:txBody>
          <a:bodyPr spcFirstLastPara="1" wrap="square" lIns="95550" tIns="47775" rIns="95550" bIns="47775" anchor="t" anchorCtr="0">
            <a:noAutofit/>
          </a:bodyPr>
          <a:lstStyle/>
          <a:p>
            <a:pPr marL="0" lvl="0" indent="0" algn="l" rtl="0">
              <a:spcBef>
                <a:spcPts val="360"/>
              </a:spcBef>
              <a:spcAft>
                <a:spcPts val="0"/>
              </a:spcAft>
              <a:buNone/>
            </a:pPr>
            <a:endParaRPr/>
          </a:p>
        </p:txBody>
      </p:sp>
      <p:sp>
        <p:nvSpPr>
          <p:cNvPr id="206" name="Google Shape;206;p1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7"/>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7"/>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24" name="Google Shape;24;p17"/>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8"/>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9"/>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6" name="Google Shape;36;p19"/>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20"/>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0"/>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40" name="Google Shape;40;p20"/>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0"/>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0"/>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20"/>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44" name="Google Shape;44;p20"/>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45" name="Google Shape;45;p20"/>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46" name="Google Shape;46;p20"/>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21"/>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1"/>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chemeClr val="lt1"/>
                </a:solidFill>
              </a:defRPr>
            </a:lvl1pPr>
            <a:lvl2pPr marL="914400" lvl="1" indent="-228600" algn="l">
              <a:spcBef>
                <a:spcPts val="500"/>
              </a:spcBef>
              <a:spcAft>
                <a:spcPts val="0"/>
              </a:spcAft>
              <a:buSzPts val="1368"/>
              <a:buNone/>
              <a:defRPr sz="1800">
                <a:solidFill>
                  <a:schemeClr val="lt1"/>
                </a:solidFill>
              </a:defRPr>
            </a:lvl2pPr>
            <a:lvl3pPr marL="1371600" lvl="2" indent="-228600" algn="l">
              <a:spcBef>
                <a:spcPts val="500"/>
              </a:spcBef>
              <a:spcAft>
                <a:spcPts val="0"/>
              </a:spcAft>
              <a:buSzPts val="1216"/>
              <a:buNone/>
              <a:defRPr sz="1600">
                <a:solidFill>
                  <a:schemeClr val="lt1"/>
                </a:solidFill>
              </a:defRPr>
            </a:lvl3pPr>
            <a:lvl4pPr marL="1828800" lvl="3" indent="-228600" algn="l">
              <a:spcBef>
                <a:spcPts val="400"/>
              </a:spcBef>
              <a:spcAft>
                <a:spcPts val="0"/>
              </a:spcAft>
              <a:buSzPts val="980"/>
              <a:buNone/>
              <a:defRPr sz="1400">
                <a:solidFill>
                  <a:schemeClr val="lt1"/>
                </a:solidFill>
              </a:defRPr>
            </a:lvl4pPr>
            <a:lvl5pPr marL="2286000" lvl="4" indent="-228600" algn="l">
              <a:spcBef>
                <a:spcPts val="300"/>
              </a:spcBef>
              <a:spcAft>
                <a:spcPts val="0"/>
              </a:spcAft>
              <a:buSzPts val="980"/>
              <a:buNone/>
              <a:defRPr sz="1400">
                <a:solidFill>
                  <a:schemeClr val="lt1"/>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0" name="Google Shape;50;p21"/>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3" name="Google Shape;53;p21"/>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54" name="Google Shape;54;p21"/>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22"/>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2"/>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8" name="Google Shape;58;p22"/>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9" name="Google Shape;59;p2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22"/>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63" name="Google Shape;63;p22"/>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23"/>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23"/>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4"/>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4"/>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2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4"/>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4"/>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4"/>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79" name="Google Shape;79;p24"/>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5"/>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lt1"/>
              </a:buClr>
              <a:buSzPts val="2000"/>
              <a:buFont typeface="Bookman Old Style"/>
              <a:buNone/>
              <a:defRPr sz="2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5"/>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5"/>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2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5"/>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9" name="Google Shape;89;p25"/>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6"/>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26"/>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7"/>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7"/>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27"/>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7"/>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7"/>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7"/>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cxnSp>
        <p:nvCxnSpPr>
          <p:cNvPr id="104" name="Google Shape;104;p27"/>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6"/>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6"/>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6"/>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6"/>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6"/>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tmp"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2800"/>
              <a:buFont typeface="Times New Roman"/>
              <a:buNone/>
            </a:pPr>
            <a:r>
              <a:rPr lang="en-US" sz="2800" b="1">
                <a:solidFill>
                  <a:schemeClr val="dk1"/>
                </a:solidFill>
                <a:latin typeface="Times New Roman"/>
                <a:ea typeface="Times New Roman"/>
                <a:cs typeface="Times New Roman"/>
                <a:sym typeface="Times New Roman"/>
              </a:rPr>
              <a:t>EGB1121 - DATA STRUCTURES </a:t>
            </a:r>
            <a:br>
              <a:rPr lang="en-US" sz="2800" b="1">
                <a:solidFill>
                  <a:schemeClr val="dk1"/>
                </a:solidFill>
                <a:latin typeface="Times New Roman"/>
                <a:ea typeface="Times New Roman"/>
                <a:cs typeface="Times New Roman"/>
                <a:sym typeface="Times New Roman"/>
              </a:rPr>
            </a:br>
            <a:r>
              <a:rPr lang="en-US" sz="2800" b="1">
                <a:solidFill>
                  <a:schemeClr val="dk1"/>
                </a:solidFill>
                <a:latin typeface="Times New Roman"/>
                <a:ea typeface="Times New Roman"/>
                <a:cs typeface="Times New Roman"/>
                <a:sym typeface="Times New Roman"/>
              </a:rPr>
              <a:t>PROJECT REVIEW</a:t>
            </a:r>
            <a:endParaRPr/>
          </a:p>
        </p:txBody>
      </p:sp>
      <p:sp>
        <p:nvSpPr>
          <p:cNvPr id="110" name="Google Shape;110;p1"/>
          <p:cNvSpPr txBox="1"/>
          <p:nvPr/>
        </p:nvSpPr>
        <p:spPr>
          <a:xfrm>
            <a:off x="0" y="1123950"/>
            <a:ext cx="9144000" cy="3733800"/>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None/>
            </a:pPr>
            <a:endParaRPr sz="25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None/>
            </a:pPr>
            <a:endParaRPr sz="25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None/>
            </a:pPr>
            <a:endParaRPr sz="2500" b="1" i="0" u="none" strike="noStrike" cap="none" dirty="0">
              <a:solidFill>
                <a:srgbClr val="41414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Department of </a:t>
            </a:r>
            <a:r>
              <a:rPr lang="en-US" sz="2500" b="1" dirty="0">
                <a:solidFill>
                  <a:schemeClr val="dk1"/>
                </a:solidFill>
                <a:latin typeface="Times New Roman"/>
                <a:ea typeface="Times New Roman"/>
                <a:cs typeface="Times New Roman"/>
                <a:sym typeface="Times New Roman"/>
              </a:rPr>
              <a:t>Electronics </a:t>
            </a:r>
            <a:r>
              <a:rPr lang="en-US" sz="2500" b="1" i="0" u="none" strike="noStrike" cap="none" dirty="0">
                <a:solidFill>
                  <a:schemeClr val="dk1"/>
                </a:solidFill>
                <a:latin typeface="Times New Roman"/>
                <a:ea typeface="Times New Roman"/>
                <a:cs typeface="Times New Roman"/>
                <a:sym typeface="Times New Roman"/>
              </a:rPr>
              <a:t>and </a:t>
            </a:r>
            <a:r>
              <a:rPr lang="en-US" sz="2500" b="1" dirty="0">
                <a:solidFill>
                  <a:schemeClr val="dk1"/>
                </a:solidFill>
                <a:latin typeface="Times New Roman"/>
                <a:ea typeface="Times New Roman"/>
                <a:cs typeface="Times New Roman"/>
                <a:sym typeface="Times New Roman"/>
              </a:rPr>
              <a:t>Communication </a:t>
            </a:r>
            <a:r>
              <a:rPr lang="en-US" sz="2500" b="1" i="0" u="none" strike="noStrike" cap="none" dirty="0">
                <a:solidFill>
                  <a:schemeClr val="dk1"/>
                </a:solidFill>
                <a:latin typeface="Times New Roman"/>
                <a:ea typeface="Times New Roman"/>
                <a:cs typeface="Times New Roman"/>
                <a:sym typeface="Times New Roman"/>
              </a:rPr>
              <a:t>Engineering</a:t>
            </a:r>
            <a:endParaRPr dirty="0"/>
          </a:p>
          <a:p>
            <a:pPr marL="0" marR="0" lvl="0" indent="0" algn="ctr"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Academic Year: 2024 – 2025 (Even Semester)</a:t>
            </a:r>
            <a:endParaRPr dirty="0"/>
          </a:p>
          <a:p>
            <a:pPr marL="0" marR="0" lvl="0" indent="0" algn="ctr" rtl="0">
              <a:spcBef>
                <a:spcPts val="0"/>
              </a:spcBef>
              <a:spcAft>
                <a:spcPts val="0"/>
              </a:spcAft>
              <a:buNone/>
            </a:pPr>
            <a:endParaRPr sz="2500" b="1" i="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Register Number	: 2403811710622113</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Name			: SUJITHA M</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Year			: I</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Semester		: II</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Section		: L</a:t>
            </a:r>
            <a:endParaRPr dirty="0"/>
          </a:p>
          <a:p>
            <a:pPr marL="0" marR="0" lvl="0" indent="0" algn="l" rtl="0">
              <a:spcBef>
                <a:spcPts val="0"/>
              </a:spcBef>
              <a:spcAft>
                <a:spcPts val="0"/>
              </a:spcAft>
              <a:buNone/>
            </a:pPr>
            <a:r>
              <a:rPr lang="en-US" sz="2500" b="1" i="0" u="none" strike="noStrike" cap="none" dirty="0">
                <a:solidFill>
                  <a:schemeClr val="dk1"/>
                </a:solidFill>
                <a:latin typeface="Times New Roman"/>
                <a:ea typeface="Times New Roman"/>
                <a:cs typeface="Times New Roman"/>
                <a:sym typeface="Times New Roman"/>
              </a:rPr>
              <a:t>Date			: 11/06/25</a:t>
            </a:r>
            <a:endParaRPr dirty="0"/>
          </a:p>
        </p:txBody>
      </p:sp>
      <p:sp>
        <p:nvSpPr>
          <p:cNvPr id="111" name="Google Shape;111;p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171450"/>
            <a:ext cx="8229600" cy="6858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Title of the Project</a:t>
            </a:r>
            <a:endParaRPr sz="4000" b="1">
              <a:solidFill>
                <a:schemeClr val="dk1"/>
              </a:solidFill>
              <a:latin typeface="Times New Roman"/>
              <a:ea typeface="Times New Roman"/>
              <a:cs typeface="Times New Roman"/>
              <a:sym typeface="Times New Roman"/>
            </a:endParaRPr>
          </a:p>
        </p:txBody>
      </p:sp>
      <p:sp>
        <p:nvSpPr>
          <p:cNvPr id="117" name="Google Shape;117;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118" name="Google Shape;118;p2"/>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None/>
            </a:pPr>
            <a:endParaRPr sz="2500" b="1" i="0" u="none" strike="noStrike" cap="none">
              <a:solidFill>
                <a:srgbClr val="414141"/>
              </a:solidFill>
              <a:latin typeface="Arial"/>
              <a:ea typeface="Arial"/>
              <a:cs typeface="Arial"/>
              <a:sym typeface="Arial"/>
            </a:endParaRPr>
          </a:p>
        </p:txBody>
      </p:sp>
      <p:sp>
        <p:nvSpPr>
          <p:cNvPr id="3" name="Text Placeholder 2">
            <a:extLst>
              <a:ext uri="{FF2B5EF4-FFF2-40B4-BE49-F238E27FC236}">
                <a16:creationId xmlns:a16="http://schemas.microsoft.com/office/drawing/2014/main" id="{E0B08997-BDB1-5C44-C901-C0A94AA276CF}"/>
              </a:ext>
            </a:extLst>
          </p:cNvPr>
          <p:cNvSpPr>
            <a:spLocks noGrp="1"/>
          </p:cNvSpPr>
          <p:nvPr>
            <p:ph type="body" idx="1"/>
          </p:nvPr>
        </p:nvSpPr>
        <p:spPr>
          <a:xfrm>
            <a:off x="930980" y="1859089"/>
            <a:ext cx="7282040" cy="3703320"/>
          </a:xfrm>
        </p:spPr>
        <p:txBody>
          <a:bodyPr/>
          <a:lstStyle/>
          <a:p>
            <a:pPr marL="141732" indent="0" algn="ctr">
              <a:buNone/>
            </a:pPr>
            <a:r>
              <a:rPr lang="en-US" b="1" dirty="0"/>
              <a:t>HOSPITAL PATIENT RECORDS MANAGEMENT     SYSTEM USING AVL TREES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Abstract</a:t>
            </a:r>
            <a:r>
              <a:rPr lang="en-US">
                <a:solidFill>
                  <a:schemeClr val="dk1"/>
                </a:solidFill>
                <a:latin typeface="Times New Roman"/>
                <a:ea typeface="Times New Roman"/>
                <a:cs typeface="Times New Roman"/>
                <a:sym typeface="Times New Roman"/>
              </a:rPr>
              <a:t> </a:t>
            </a:r>
            <a:endParaRPr sz="4000">
              <a:solidFill>
                <a:schemeClr val="dk1"/>
              </a:solidFill>
              <a:latin typeface="Times New Roman"/>
              <a:ea typeface="Times New Roman"/>
              <a:cs typeface="Times New Roman"/>
              <a:sym typeface="Times New Roman"/>
            </a:endParaRPr>
          </a:p>
        </p:txBody>
      </p:sp>
      <p:sp>
        <p:nvSpPr>
          <p:cNvPr id="125" name="Google Shape;125;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a:t>
            </a:fld>
            <a:endParaRPr/>
          </a:p>
        </p:txBody>
      </p:sp>
      <p:sp>
        <p:nvSpPr>
          <p:cNvPr id="126" name="Google Shape;126;p3"/>
          <p:cNvSpPr txBox="1">
            <a:spLocks noGrp="1"/>
          </p:cNvSpPr>
          <p:nvPr>
            <p:ph type="body" idx="1"/>
          </p:nvPr>
        </p:nvSpPr>
        <p:spPr>
          <a:xfrm>
            <a:off x="457200" y="1063943"/>
            <a:ext cx="8229600" cy="3703320"/>
          </a:xfrm>
          <a:prstGeom prst="rect">
            <a:avLst/>
          </a:prstGeom>
          <a:noFill/>
          <a:ln>
            <a:noFill/>
          </a:ln>
        </p:spPr>
        <p:txBody>
          <a:bodyPr spcFirstLastPara="1" wrap="square" lIns="91425" tIns="45700" rIns="91425" bIns="45700" anchor="t" anchorCtr="0">
            <a:normAutofit fontScale="70000" lnSpcReduction="20000"/>
          </a:bodyPr>
          <a:lstStyle/>
          <a:p>
            <a:pPr marL="582676" indent="-457200">
              <a:spcBef>
                <a:spcPts val="0"/>
              </a:spcBef>
              <a:buSzPts val="1976"/>
            </a:pPr>
            <a:r>
              <a:rPr lang="en-US" dirty="0">
                <a:latin typeface="Times New Roman"/>
                <a:ea typeface="Times New Roman"/>
                <a:cs typeface="Times New Roman"/>
                <a:sym typeface="Times New Roman"/>
              </a:rPr>
              <a:t>The Hospital Patient Records Management System is a data structure-based project implemented in the C programming language, designed to efficiently store, manage, and retrieve patient information.</a:t>
            </a:r>
          </a:p>
          <a:p>
            <a:pPr marL="125476" indent="0">
              <a:spcBef>
                <a:spcPts val="0"/>
              </a:spcBef>
              <a:buSzPts val="1976"/>
              <a:buNone/>
            </a:pPr>
            <a:endParaRPr lang="en-US" dirty="0">
              <a:latin typeface="Times New Roman"/>
              <a:ea typeface="Times New Roman"/>
              <a:cs typeface="Times New Roman"/>
              <a:sym typeface="Times New Roman"/>
            </a:endParaRPr>
          </a:p>
          <a:p>
            <a:pPr marL="582676" indent="-457200">
              <a:spcBef>
                <a:spcPts val="0"/>
              </a:spcBef>
              <a:buSzPts val="1976"/>
            </a:pPr>
            <a:r>
              <a:rPr lang="en-US" dirty="0">
                <a:latin typeface="Times New Roman"/>
                <a:ea typeface="Times New Roman"/>
                <a:cs typeface="Times New Roman"/>
                <a:sym typeface="Times New Roman"/>
              </a:rPr>
              <a:t>This system uses an AVL tree (a self-balancing binary search tree) to maintain patient records such as patient ID, name, and other relevant data. The AVL tree ensures that the height of the tree remains balanced after every insertion and deletion, thereby allowing faster search, insertion, and deletion operations in O(log n) time complexity. </a:t>
            </a:r>
          </a:p>
          <a:p>
            <a:pPr marL="125476" indent="0">
              <a:spcBef>
                <a:spcPts val="0"/>
              </a:spcBef>
              <a:buSzPts val="1976"/>
              <a:buNone/>
            </a:pPr>
            <a:endParaRPr lang="en-US" dirty="0">
              <a:latin typeface="Times New Roman"/>
              <a:ea typeface="Times New Roman"/>
              <a:cs typeface="Times New Roman"/>
              <a:sym typeface="Times New Roman"/>
            </a:endParaRPr>
          </a:p>
          <a:p>
            <a:pPr marL="582676" indent="-457200">
              <a:spcBef>
                <a:spcPts val="0"/>
              </a:spcBef>
              <a:buSzPts val="1976"/>
            </a:pPr>
            <a:r>
              <a:rPr lang="en-US" dirty="0">
                <a:latin typeface="Times New Roman"/>
                <a:ea typeface="Times New Roman"/>
                <a:cs typeface="Times New Roman"/>
                <a:sym typeface="Times New Roman"/>
              </a:rPr>
              <a:t>This improves the overall performance of managing large volumes of patient records compared to unbalanced trees or linear data structures. The project demonstrates the application of advanced tree structures in real-world scenarios such as healthcare data management, where accuracy and quick access are critical.</a:t>
            </a:r>
            <a:endParaRPr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title"/>
          </p:nvPr>
        </p:nvSpPr>
        <p:spPr>
          <a:xfrm>
            <a:off x="457200" y="285750"/>
            <a:ext cx="8229600" cy="4572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Introduction</a:t>
            </a:r>
            <a:endParaRPr sz="4000" b="1">
              <a:solidFill>
                <a:schemeClr val="dk1"/>
              </a:solidFill>
              <a:latin typeface="Times New Roman"/>
              <a:ea typeface="Times New Roman"/>
              <a:cs typeface="Times New Roman"/>
              <a:sym typeface="Times New Roman"/>
            </a:endParaRPr>
          </a:p>
        </p:txBody>
      </p:sp>
      <p:sp>
        <p:nvSpPr>
          <p:cNvPr id="132" name="Google Shape;132;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a:t>
            </a:fld>
            <a:endParaRPr/>
          </a:p>
        </p:txBody>
      </p:sp>
      <p:sp>
        <p:nvSpPr>
          <p:cNvPr id="133" name="Google Shape;133;p4"/>
          <p:cNvSpPr txBox="1">
            <a:spLocks noGrp="1"/>
          </p:cNvSpPr>
          <p:nvPr>
            <p:ph type="body" idx="1"/>
          </p:nvPr>
        </p:nvSpPr>
        <p:spPr>
          <a:xfrm>
            <a:off x="457200" y="1063943"/>
            <a:ext cx="8229600" cy="3703320"/>
          </a:xfrm>
          <a:prstGeom prst="rect">
            <a:avLst/>
          </a:prstGeom>
          <a:noFill/>
          <a:ln>
            <a:noFill/>
          </a:ln>
        </p:spPr>
        <p:txBody>
          <a:bodyPr spcFirstLastPara="1" wrap="square" lIns="91425" tIns="45700" rIns="91425" bIns="45700" anchor="t" anchorCtr="0">
            <a:normAutofit fontScale="85000" lnSpcReduction="20000"/>
          </a:bodyPr>
          <a:lstStyle/>
          <a:p>
            <a:pPr marL="582676" indent="-457200">
              <a:spcBef>
                <a:spcPts val="0"/>
              </a:spcBef>
              <a:buSzPts val="1976"/>
            </a:pPr>
            <a:r>
              <a:rPr lang="en-US" dirty="0">
                <a:latin typeface="Times New Roman"/>
                <a:ea typeface="Times New Roman"/>
                <a:cs typeface="Times New Roman"/>
                <a:sym typeface="Times New Roman"/>
              </a:rPr>
              <a:t>  An AVL Tree is a self-balancing binary search tree that keeps the height difference between left and right subtrees within a limit after every insertion or deletion. This ensures that the operations like searching, inserting, and deleting patient records are performed quickly and efficiently. Each node in the AVL tree represents a patient, storing details such as patient ID, name, and other personal information.</a:t>
            </a:r>
          </a:p>
          <a:p>
            <a:pPr marL="125476" indent="0">
              <a:spcBef>
                <a:spcPts val="0"/>
              </a:spcBef>
              <a:buSzPts val="1976"/>
              <a:buNone/>
            </a:pPr>
            <a:endParaRPr lang="en-US" dirty="0">
              <a:latin typeface="Times New Roman"/>
              <a:ea typeface="Times New Roman"/>
              <a:cs typeface="Times New Roman"/>
              <a:sym typeface="Times New Roman"/>
            </a:endParaRPr>
          </a:p>
          <a:p>
            <a:pPr marL="582676" indent="-457200">
              <a:spcBef>
                <a:spcPts val="0"/>
              </a:spcBef>
              <a:buSzPts val="1976"/>
            </a:pPr>
            <a:r>
              <a:rPr lang="en-US" dirty="0">
                <a:latin typeface="Times New Roman"/>
                <a:ea typeface="Times New Roman"/>
                <a:cs typeface="Times New Roman"/>
                <a:sym typeface="Times New Roman"/>
              </a:rPr>
              <a:t>This system helps maintain a well-organized, balanced, and dynamic structure for hospital data, allowing healthcare staff to manage records with speed and accuracy. The use of data structures like AVL trees in real-life applications showcases the importance of algorithm efficiency in software development.</a:t>
            </a:r>
            <a:endParaRPr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Data Structures  - Concepts Used</a:t>
            </a:r>
            <a:endParaRPr sz="4000" b="1">
              <a:solidFill>
                <a:schemeClr val="dk1"/>
              </a:solidFill>
              <a:latin typeface="Times New Roman"/>
              <a:ea typeface="Times New Roman"/>
              <a:cs typeface="Times New Roman"/>
              <a:sym typeface="Times New Roman"/>
            </a:endParaRPr>
          </a:p>
        </p:txBody>
      </p:sp>
      <p:sp>
        <p:nvSpPr>
          <p:cNvPr id="139" name="Google Shape;139;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sp>
        <p:nvSpPr>
          <p:cNvPr id="140" name="Google Shape;140;p5"/>
          <p:cNvSpPr txBox="1">
            <a:spLocks noGrp="1"/>
          </p:cNvSpPr>
          <p:nvPr>
            <p:ph type="body" idx="1"/>
          </p:nvPr>
        </p:nvSpPr>
        <p:spPr>
          <a:xfrm>
            <a:off x="457200" y="1201103"/>
            <a:ext cx="8229600" cy="3703320"/>
          </a:xfrm>
          <a:prstGeom prst="rect">
            <a:avLst/>
          </a:prstGeom>
          <a:noFill/>
          <a:ln>
            <a:noFill/>
          </a:ln>
        </p:spPr>
        <p:txBody>
          <a:bodyPr spcFirstLastPara="1" wrap="square" lIns="91425" tIns="45700" rIns="91425" bIns="45700" anchor="t" anchorCtr="0">
            <a:normAutofit fontScale="77500" lnSpcReduction="20000"/>
          </a:bodyPr>
          <a:lstStyle/>
          <a:p>
            <a:pPr indent="-457200">
              <a:spcBef>
                <a:spcPts val="0"/>
              </a:spcBef>
              <a:buSzPts val="1976"/>
            </a:pPr>
            <a:r>
              <a:rPr lang="en-US" dirty="0">
                <a:latin typeface="Times New Roman"/>
                <a:ea typeface="Times New Roman"/>
                <a:cs typeface="Times New Roman"/>
                <a:sym typeface="Times New Roman"/>
              </a:rPr>
              <a:t>Maintaining Data Integrity</a:t>
            </a:r>
            <a:r>
              <a:rPr lang="en-US" dirty="0">
                <a:latin typeface="Times New Roman"/>
                <a:ea typeface="Times New Roman"/>
                <a:cs typeface="Times New Roman"/>
                <a:sym typeface="Wingdings" pitchFamily="2" charset="2"/>
              </a:rPr>
              <a:t> - &gt; </a:t>
            </a:r>
            <a:r>
              <a:rPr lang="en-US" dirty="0">
                <a:latin typeface="Times New Roman"/>
                <a:ea typeface="Times New Roman"/>
                <a:cs typeface="Times New Roman"/>
                <a:sym typeface="Times New Roman"/>
              </a:rPr>
              <a:t>self-balancing feature ensures that the tree</a:t>
            </a:r>
          </a:p>
          <a:p>
            <a:pPr marL="274320" lvl="0" indent="-274320" algn="l" rtl="0">
              <a:spcBef>
                <a:spcPts val="0"/>
              </a:spcBef>
              <a:spcAft>
                <a:spcPts val="0"/>
              </a:spcAft>
              <a:buSzPts val="1976"/>
              <a:buNone/>
            </a:pPr>
            <a:r>
              <a:rPr lang="en-US" dirty="0">
                <a:latin typeface="Times New Roman"/>
                <a:ea typeface="Times New Roman"/>
                <a:cs typeface="Times New Roman"/>
                <a:sym typeface="Times New Roman"/>
              </a:rPr>
              <a:t>
structure remains efficient and that data retrieval remains fast, even with</a:t>
            </a:r>
          </a:p>
          <a:p>
            <a:pPr marL="274320" lvl="0" indent="-274320" algn="l" rtl="0">
              <a:spcBef>
                <a:spcPts val="0"/>
              </a:spcBef>
              <a:spcAft>
                <a:spcPts val="0"/>
              </a:spcAft>
              <a:buSzPts val="1976"/>
              <a:buNone/>
            </a:pPr>
            <a:r>
              <a:rPr lang="en-US" dirty="0">
                <a:latin typeface="Times New Roman"/>
                <a:ea typeface="Times New Roman"/>
                <a:cs typeface="Times New Roman"/>
                <a:sym typeface="Times New Roman"/>
              </a:rPr>
              <a:t>
frequent updates to the patient records.</a:t>
            </a:r>
          </a:p>
          <a:p>
            <a:pPr marL="274320" lvl="0" indent="-274320" algn="l" rtl="0">
              <a:spcBef>
                <a:spcPts val="0"/>
              </a:spcBef>
              <a:spcAft>
                <a:spcPts val="0"/>
              </a:spcAft>
              <a:buSzPts val="1976"/>
              <a:buNone/>
            </a:pPr>
            <a:endParaRPr lang="en-US" dirty="0">
              <a:latin typeface="Times New Roman"/>
              <a:ea typeface="Times New Roman"/>
              <a:cs typeface="Times New Roman"/>
              <a:sym typeface="Times New Roman"/>
            </a:endParaRPr>
          </a:p>
          <a:p>
            <a:pPr indent="-457200">
              <a:spcBef>
                <a:spcPts val="0"/>
              </a:spcBef>
              <a:buSzPts val="1976"/>
            </a:pPr>
            <a:r>
              <a:rPr lang="en-US" dirty="0">
                <a:latin typeface="Times New Roman"/>
                <a:ea typeface="Times New Roman"/>
                <a:cs typeface="Times New Roman"/>
                <a:sym typeface="Times New Roman"/>
              </a:rPr>
              <a:t>Handles Large Datasets - &gt; AVL trees are well-suited for managing large </a:t>
            </a:r>
          </a:p>
          <a:p>
            <a:pPr marL="274320" lvl="0" indent="-274320" algn="l" rtl="0">
              <a:spcBef>
                <a:spcPts val="0"/>
              </a:spcBef>
              <a:spcAft>
                <a:spcPts val="0"/>
              </a:spcAft>
              <a:buSzPts val="1976"/>
              <a:buNone/>
            </a:pPr>
            <a:r>
              <a:rPr lang="en-US" dirty="0">
                <a:latin typeface="Times New Roman"/>
                <a:ea typeface="Times New Roman"/>
                <a:cs typeface="Times New Roman"/>
                <a:sym typeface="Times New Roman"/>
              </a:rPr>
              <a:t>
datasets, like a hospital’s patient records, because their logarithmic </a:t>
            </a:r>
          </a:p>
          <a:p>
            <a:pPr marL="274320" lvl="0" indent="-274320" algn="l" rtl="0">
              <a:spcBef>
                <a:spcPts val="0"/>
              </a:spcBef>
              <a:spcAft>
                <a:spcPts val="0"/>
              </a:spcAft>
              <a:buSzPts val="1976"/>
              <a:buNone/>
            </a:pPr>
            <a:r>
              <a:rPr lang="en-US" dirty="0">
                <a:latin typeface="Times New Roman"/>
                <a:ea typeface="Times New Roman"/>
                <a:cs typeface="Times New Roman"/>
                <a:sym typeface="Times New Roman"/>
              </a:rPr>
              <a:t>
time complexity ensures that performance remains efficient even as the </a:t>
            </a:r>
            <a:endParaRPr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a:t>
            </a:r>
            <a:endParaRPr sz="4000" b="1">
              <a:solidFill>
                <a:schemeClr val="dk1"/>
              </a:solidFill>
              <a:latin typeface="Times New Roman"/>
              <a:ea typeface="Times New Roman"/>
              <a:cs typeface="Times New Roman"/>
              <a:sym typeface="Times New Roman"/>
            </a:endParaRPr>
          </a:p>
        </p:txBody>
      </p:sp>
      <p:sp>
        <p:nvSpPr>
          <p:cNvPr id="146" name="Google Shape;146;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a:p>
        </p:txBody>
      </p:sp>
      <p:pic>
        <p:nvPicPr>
          <p:cNvPr id="2" name="Picture 1">
            <a:extLst>
              <a:ext uri="{FF2B5EF4-FFF2-40B4-BE49-F238E27FC236}">
                <a16:creationId xmlns:a16="http://schemas.microsoft.com/office/drawing/2014/main" id="{D5A77EAE-90AB-2386-C0AA-F9DB24A4770B}"/>
              </a:ext>
            </a:extLst>
          </p:cNvPr>
          <p:cNvPicPr>
            <a:picLocks noChangeAspect="1"/>
          </p:cNvPicPr>
          <p:nvPr/>
        </p:nvPicPr>
        <p:blipFill>
          <a:blip r:embed="rId3"/>
          <a:stretch>
            <a:fillRect/>
          </a:stretch>
        </p:blipFill>
        <p:spPr>
          <a:xfrm>
            <a:off x="1019018" y="1028095"/>
            <a:ext cx="7105964" cy="34540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Proposed Architecture - Description</a:t>
            </a:r>
            <a:endParaRPr sz="4000" b="1">
              <a:solidFill>
                <a:schemeClr val="dk1"/>
              </a:solidFill>
              <a:latin typeface="Times New Roman"/>
              <a:ea typeface="Times New Roman"/>
              <a:cs typeface="Times New Roman"/>
              <a:sym typeface="Times New Roman"/>
            </a:endParaRPr>
          </a:p>
        </p:txBody>
      </p:sp>
      <p:sp>
        <p:nvSpPr>
          <p:cNvPr id="153" name="Google Shape;153;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7</a:t>
            </a:fld>
            <a:endParaRPr/>
          </a:p>
        </p:txBody>
      </p:sp>
      <p:sp>
        <p:nvSpPr>
          <p:cNvPr id="154" name="Google Shape;154;p7"/>
          <p:cNvSpPr txBox="1">
            <a:spLocks noGrp="1"/>
          </p:cNvSpPr>
          <p:nvPr>
            <p:ph type="body" idx="1"/>
          </p:nvPr>
        </p:nvSpPr>
        <p:spPr>
          <a:xfrm>
            <a:off x="612648" y="1063943"/>
            <a:ext cx="8229600" cy="3703320"/>
          </a:xfrm>
          <a:prstGeom prst="rect">
            <a:avLst/>
          </a:prstGeom>
          <a:noFill/>
          <a:ln>
            <a:noFill/>
          </a:ln>
        </p:spPr>
        <p:txBody>
          <a:bodyPr spcFirstLastPara="1" wrap="square" lIns="91425" tIns="45700" rIns="91425" bIns="45700" anchor="t" anchorCtr="0">
            <a:normAutofit fontScale="92500" lnSpcReduction="10000"/>
          </a:bodyPr>
          <a:lstStyle/>
          <a:p>
            <a:pPr marL="274320" lvl="0" indent="-148844" algn="l" rtl="0">
              <a:spcBef>
                <a:spcPts val="0"/>
              </a:spcBef>
              <a:spcAft>
                <a:spcPts val="0"/>
              </a:spcAft>
              <a:buSzPts val="1976"/>
              <a:buNone/>
            </a:pPr>
            <a:r>
              <a:rPr lang="en-US" dirty="0">
                <a:latin typeface="Times New Roman"/>
                <a:ea typeface="Times New Roman"/>
                <a:cs typeface="Times New Roman"/>
                <a:sym typeface="Times New Roman"/>
              </a:rPr>
              <a:t>The proposed architecture for the Hospital Patient Records Management System is a modular, web-based system that integrates multiple healthcare modules for patient record management, laboratory information, and resource planning. This architecture is an open-source hospital management system, and consists of three main components:</a:t>
            </a:r>
          </a:p>
          <a:p>
            <a:pPr marL="274320" lvl="0" indent="-148844" algn="l" rtl="0">
              <a:spcBef>
                <a:spcPts val="0"/>
              </a:spcBef>
              <a:spcAft>
                <a:spcPts val="0"/>
              </a:spcAft>
              <a:buSzPts val="1976"/>
              <a:buNone/>
            </a:pPr>
            <a:endParaRPr lang="en-US" dirty="0">
              <a:latin typeface="Times New Roman"/>
              <a:ea typeface="Times New Roman"/>
              <a:cs typeface="Times New Roman"/>
              <a:sym typeface="Times New Roman"/>
            </a:endParaRPr>
          </a:p>
          <a:p>
            <a:pPr marL="639826" lvl="0" indent="-514350" algn="l" rtl="0">
              <a:spcBef>
                <a:spcPts val="0"/>
              </a:spcBef>
              <a:spcAft>
                <a:spcPts val="0"/>
              </a:spcAft>
              <a:buSzPts val="1976"/>
              <a:buAutoNum type="arabicPeriod"/>
            </a:pPr>
            <a:r>
              <a:rPr lang="en-US" dirty="0">
                <a:latin typeface="Times New Roman"/>
                <a:ea typeface="Times New Roman"/>
                <a:cs typeface="Times New Roman"/>
                <a:sym typeface="Times New Roman"/>
              </a:rPr>
              <a:t>Frontend (User Interface)</a:t>
            </a:r>
          </a:p>
          <a:p>
            <a:pPr marL="639826" lvl="0" indent="-514350" algn="l" rtl="0">
              <a:spcBef>
                <a:spcPts val="0"/>
              </a:spcBef>
              <a:spcAft>
                <a:spcPts val="0"/>
              </a:spcAft>
              <a:buSzPts val="1976"/>
              <a:buAutoNum type="arabicPeriod"/>
            </a:pPr>
            <a:r>
              <a:rPr lang="en-US" dirty="0">
                <a:latin typeface="Times New Roman"/>
                <a:ea typeface="Times New Roman"/>
                <a:cs typeface="Times New Roman"/>
                <a:sym typeface="Times New Roman"/>
              </a:rPr>
              <a:t> Web Server Layer</a:t>
            </a:r>
          </a:p>
          <a:p>
            <a:pPr marL="639826" lvl="0" indent="-514350" algn="l" rtl="0">
              <a:spcBef>
                <a:spcPts val="0"/>
              </a:spcBef>
              <a:spcAft>
                <a:spcPts val="0"/>
              </a:spcAft>
              <a:buSzPts val="1976"/>
              <a:buAutoNum type="arabicPeriod"/>
            </a:pPr>
            <a:r>
              <a:rPr lang="en-US" dirty="0">
                <a:latin typeface="Times New Roman"/>
                <a:ea typeface="Times New Roman"/>
                <a:cs typeface="Times New Roman"/>
                <a:sym typeface="Times New Roman"/>
              </a:rPr>
              <a:t>Backend Components (Modular Servers)</a:t>
            </a:r>
            <a:endParaRPr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title"/>
          </p:nvPr>
        </p:nvSpPr>
        <p:spPr>
          <a:xfrm>
            <a:off x="457200" y="13335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List of Modules</a:t>
            </a:r>
            <a:endParaRPr/>
          </a:p>
        </p:txBody>
      </p:sp>
      <p:sp>
        <p:nvSpPr>
          <p:cNvPr id="167" name="Google Shape;167;p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sp>
        <p:nvSpPr>
          <p:cNvPr id="168" name="Google Shape;168;p9"/>
          <p:cNvSpPr txBox="1">
            <a:spLocks noGrp="1"/>
          </p:cNvSpPr>
          <p:nvPr>
            <p:ph type="body" idx="1"/>
          </p:nvPr>
        </p:nvSpPr>
        <p:spPr>
          <a:xfrm>
            <a:off x="1506072" y="1063943"/>
            <a:ext cx="8229600" cy="3703320"/>
          </a:xfrm>
          <a:prstGeom prst="rect">
            <a:avLst/>
          </a:prstGeom>
          <a:noFill/>
          <a:ln>
            <a:noFill/>
          </a:ln>
        </p:spPr>
        <p:txBody>
          <a:bodyPr spcFirstLastPara="1" wrap="square" lIns="91425" tIns="45700" rIns="91425" bIns="45700" anchor="t" anchorCtr="0">
            <a:normAutofit/>
          </a:bodyPr>
          <a:lstStyle/>
          <a:p>
            <a:pPr marL="639826" indent="-514350">
              <a:spcBef>
                <a:spcPts val="0"/>
              </a:spcBef>
              <a:buSzPts val="1976"/>
              <a:buFont typeface="+mj-lt"/>
              <a:buAutoNum type="arabicPeriod"/>
            </a:pPr>
            <a:r>
              <a:rPr lang="en-US" dirty="0">
                <a:latin typeface="Times New Roman"/>
                <a:ea typeface="Times New Roman"/>
                <a:cs typeface="Times New Roman"/>
                <a:sym typeface="Times New Roman"/>
              </a:rPr>
              <a:t>Creative New Patient Record.</a:t>
            </a:r>
          </a:p>
          <a:p>
            <a:pPr marL="639826" indent="-514350">
              <a:spcBef>
                <a:spcPts val="0"/>
              </a:spcBef>
              <a:buSzPts val="1976"/>
              <a:buFont typeface="+mj-lt"/>
              <a:buAutoNum type="arabicPeriod"/>
            </a:pPr>
            <a:endParaRPr lang="en-US" dirty="0">
              <a:latin typeface="Times New Roman"/>
              <a:ea typeface="Times New Roman"/>
              <a:cs typeface="Times New Roman"/>
              <a:sym typeface="Times New Roman"/>
            </a:endParaRPr>
          </a:p>
          <a:p>
            <a:pPr marL="639826" indent="-514350">
              <a:spcBef>
                <a:spcPts val="0"/>
              </a:spcBef>
              <a:buSzPts val="1976"/>
              <a:buFont typeface="+mj-lt"/>
              <a:buAutoNum type="arabicPeriod"/>
            </a:pPr>
            <a:r>
              <a:rPr lang="en-US" dirty="0">
                <a:latin typeface="Times New Roman"/>
                <a:ea typeface="Times New Roman"/>
                <a:cs typeface="Times New Roman"/>
                <a:sym typeface="Times New Roman"/>
              </a:rPr>
              <a:t>Display Patient Records.</a:t>
            </a:r>
          </a:p>
          <a:p>
            <a:pPr marL="639826" indent="-514350">
              <a:spcBef>
                <a:spcPts val="0"/>
              </a:spcBef>
              <a:buSzPts val="1976"/>
              <a:buFont typeface="+mj-lt"/>
              <a:buAutoNum type="arabicPeriod"/>
            </a:pPr>
            <a:endParaRPr lang="en-US" dirty="0">
              <a:latin typeface="Times New Roman"/>
              <a:ea typeface="Times New Roman"/>
              <a:cs typeface="Times New Roman"/>
              <a:sym typeface="Times New Roman"/>
            </a:endParaRPr>
          </a:p>
          <a:p>
            <a:pPr marL="639826" indent="-514350">
              <a:spcBef>
                <a:spcPts val="0"/>
              </a:spcBef>
              <a:buSzPts val="1976"/>
              <a:buFont typeface="+mj-lt"/>
              <a:buAutoNum type="arabicPeriod"/>
            </a:pPr>
            <a:r>
              <a:rPr lang="en-US" dirty="0">
                <a:latin typeface="Times New Roman"/>
                <a:ea typeface="Times New Roman"/>
                <a:cs typeface="Times New Roman"/>
                <a:sym typeface="Times New Roman"/>
              </a:rPr>
              <a:t>AVL Tree Rotation And Balancing.</a:t>
            </a:r>
          </a:p>
          <a:p>
            <a:pPr marL="639826" indent="-514350">
              <a:spcBef>
                <a:spcPts val="0"/>
              </a:spcBef>
              <a:buSzPts val="1976"/>
              <a:buFont typeface="+mj-lt"/>
              <a:buAutoNum type="arabicPeriod"/>
            </a:pPr>
            <a:endParaRPr lang="en-US" dirty="0">
              <a:latin typeface="Times New Roman"/>
              <a:ea typeface="Times New Roman"/>
              <a:cs typeface="Times New Roman"/>
              <a:sym typeface="Times New Roman"/>
            </a:endParaRPr>
          </a:p>
          <a:p>
            <a:pPr marL="639826" indent="-514350">
              <a:spcBef>
                <a:spcPts val="0"/>
              </a:spcBef>
              <a:buSzPts val="1976"/>
              <a:buFont typeface="+mj-lt"/>
              <a:buAutoNum type="arabicPeriod"/>
            </a:pPr>
            <a:r>
              <a:rPr lang="en-US" dirty="0">
                <a:latin typeface="Times New Roman"/>
                <a:ea typeface="Times New Roman"/>
                <a:cs typeface="Times New Roman"/>
                <a:sym typeface="Times New Roman"/>
              </a:rPr>
              <a:t>Utility Module(Height and Balance Functions).</a:t>
            </a:r>
          </a:p>
          <a:p>
            <a:pPr marL="639826" indent="-514350">
              <a:spcBef>
                <a:spcPts val="0"/>
              </a:spcBef>
              <a:buSzPts val="1976"/>
              <a:buFont typeface="+mj-lt"/>
              <a:buAutoNum type="arabicPeriod"/>
            </a:pPr>
            <a:endParaRPr lang="en-US" dirty="0">
              <a:latin typeface="Times New Roman"/>
              <a:ea typeface="Times New Roman"/>
              <a:cs typeface="Times New Roman"/>
              <a:sym typeface="Times New Roman"/>
            </a:endParaRPr>
          </a:p>
          <a:p>
            <a:pPr marL="639826" indent="-514350">
              <a:spcBef>
                <a:spcPts val="0"/>
              </a:spcBef>
              <a:buSzPts val="1976"/>
              <a:buFont typeface="+mj-lt"/>
              <a:buAutoNum type="arabicPeriod"/>
            </a:pPr>
            <a:r>
              <a:rPr lang="en-US" dirty="0">
                <a:latin typeface="Times New Roman"/>
                <a:ea typeface="Times New Roman"/>
                <a:cs typeface="Times New Roman"/>
                <a:sym typeface="Times New Roman"/>
              </a:rPr>
              <a:t>Main Control Module.</a:t>
            </a:r>
          </a:p>
          <a:p>
            <a:pPr marL="639826" indent="-514350">
              <a:spcBef>
                <a:spcPts val="0"/>
              </a:spcBef>
              <a:buSzPts val="1976"/>
              <a:buFont typeface="+mj-lt"/>
              <a:buAutoNum type="arabicPeriod"/>
            </a:pPr>
            <a:endParaRPr lang="en-US" dirty="0">
              <a:latin typeface="Times New Roman"/>
              <a:ea typeface="Times New Roman"/>
              <a:cs typeface="Times New Roman"/>
              <a:sym typeface="Times New Roman"/>
            </a:endParaRPr>
          </a:p>
          <a:p>
            <a:pPr marL="639826" indent="-514350">
              <a:spcBef>
                <a:spcPts val="0"/>
              </a:spcBef>
              <a:buSzPts val="1976"/>
              <a:buFont typeface="+mj-lt"/>
              <a:buAutoNum type="arabicPeriod"/>
            </a:pPr>
            <a:endParaRPr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0"/>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Module Description</a:t>
            </a:r>
            <a:endParaRPr b="1">
              <a:solidFill>
                <a:schemeClr val="dk1"/>
              </a:solidFill>
              <a:latin typeface="Times New Roman"/>
              <a:ea typeface="Times New Roman"/>
              <a:cs typeface="Times New Roman"/>
              <a:sym typeface="Times New Roman"/>
            </a:endParaRPr>
          </a:p>
        </p:txBody>
      </p:sp>
      <p:sp>
        <p:nvSpPr>
          <p:cNvPr id="174" name="Google Shape;174;p1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9</a:t>
            </a:fld>
            <a:endParaRPr/>
          </a:p>
        </p:txBody>
      </p:sp>
      <p:sp>
        <p:nvSpPr>
          <p:cNvPr id="175" name="Google Shape;175;p10"/>
          <p:cNvSpPr txBox="1">
            <a:spLocks noGrp="1"/>
          </p:cNvSpPr>
          <p:nvPr>
            <p:ph type="body" idx="1"/>
          </p:nvPr>
        </p:nvSpPr>
        <p:spPr>
          <a:xfrm>
            <a:off x="457200" y="1063943"/>
            <a:ext cx="8229600" cy="3703320"/>
          </a:xfrm>
          <a:prstGeom prst="rect">
            <a:avLst/>
          </a:prstGeom>
          <a:noFill/>
          <a:ln>
            <a:noFill/>
          </a:ln>
        </p:spPr>
        <p:txBody>
          <a:bodyPr spcFirstLastPara="1" wrap="square" lIns="91425" tIns="45700" rIns="91425" bIns="45700" anchor="t" anchorCtr="0">
            <a:normAutofit fontScale="70000" lnSpcReduction="20000"/>
          </a:bodyPr>
          <a:lstStyle/>
          <a:p>
            <a:pPr marL="582676" indent="-457200">
              <a:spcBef>
                <a:spcPts val="0"/>
              </a:spcBef>
              <a:buSzPts val="1976"/>
            </a:pPr>
            <a:r>
              <a:rPr lang="en-US" dirty="0"/>
              <a:t>  The Hospital Patient Records Management System developed using Data Structure and AVL Trees follows a modular approach to manage and operate on patient records efficiently.</a:t>
            </a:r>
          </a:p>
          <a:p>
            <a:pPr marL="125476" indent="0">
              <a:spcBef>
                <a:spcPts val="0"/>
              </a:spcBef>
              <a:buSzPts val="1976"/>
              <a:buNone/>
            </a:pPr>
            <a:endParaRPr lang="en-US" dirty="0"/>
          </a:p>
          <a:p>
            <a:pPr marL="582676" indent="-457200">
              <a:spcBef>
                <a:spcPts val="0"/>
              </a:spcBef>
              <a:buSzPts val="1976"/>
            </a:pPr>
            <a:r>
              <a:rPr lang="en-US" dirty="0"/>
              <a:t> Each module in the system is structured around a specific function that interacts with the AVL Tree, a self-balancing binary search tree used as the core data structure. </a:t>
            </a:r>
          </a:p>
          <a:p>
            <a:pPr marL="125476" indent="0">
              <a:spcBef>
                <a:spcPts val="0"/>
              </a:spcBef>
              <a:buSzPts val="1976"/>
              <a:buNone/>
            </a:pPr>
            <a:endParaRPr lang="en-US" dirty="0"/>
          </a:p>
          <a:p>
            <a:pPr marL="582676" indent="-457200">
              <a:spcBef>
                <a:spcPts val="0"/>
              </a:spcBef>
              <a:buSzPts val="1976"/>
            </a:pPr>
            <a:r>
              <a:rPr lang="en-US" dirty="0"/>
              <a:t>The AVL Tree ensures that all operations maintain logarithmic time complexity, which makes the system scalable and responsive. </a:t>
            </a:r>
          </a:p>
          <a:p>
            <a:pPr marL="125476" indent="0">
              <a:spcBef>
                <a:spcPts val="0"/>
              </a:spcBef>
              <a:buSzPts val="1976"/>
              <a:buNone/>
            </a:pPr>
            <a:endParaRPr lang="en-US" dirty="0"/>
          </a:p>
          <a:p>
            <a:pPr marL="582676" indent="-457200">
              <a:spcBef>
                <a:spcPts val="0"/>
              </a:spcBef>
              <a:buSzPts val="1976"/>
            </a:pPr>
            <a:r>
              <a:rPr lang="en-US" dirty="0"/>
              <a:t>The primary modules implemented in the project include patient record insertion, display of patient data, balance and rotation handling for the AVL Tree, and core utility functions that support the integrity and performance of the system.</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A309-7D07-1D36-3EEA-1417FF26DE73}"/>
              </a:ext>
            </a:extLst>
          </p:cNvPr>
          <p:cNvSpPr>
            <a:spLocks noGrp="1"/>
          </p:cNvSpPr>
          <p:nvPr>
            <p:ph type="title"/>
          </p:nvPr>
        </p:nvSpPr>
        <p:spPr>
          <a:xfrm>
            <a:off x="457200" y="101917"/>
            <a:ext cx="8229600" cy="742950"/>
          </a:xfrm>
        </p:spPr>
        <p:style>
          <a:lnRef idx="2">
            <a:schemeClr val="accent2">
              <a:shade val="15000"/>
            </a:schemeClr>
          </a:lnRef>
          <a:fillRef idx="1">
            <a:schemeClr val="accent2"/>
          </a:fillRef>
          <a:effectRef idx="0">
            <a:schemeClr val="accent2"/>
          </a:effectRef>
          <a:fontRef idx="minor">
            <a:schemeClr val="lt1"/>
          </a:fontRef>
        </p:style>
        <p:txBody>
          <a:bodyPr/>
          <a:lstStyle/>
          <a:p>
            <a:r>
              <a:rPr lang="en-US" dirty="0"/>
              <a:t>                    </a:t>
            </a:r>
            <a:r>
              <a:rPr lang="en-US" b="1" dirty="0">
                <a:solidFill>
                  <a:schemeClr val="tx1"/>
                </a:solidFill>
              </a:rPr>
              <a:t>CODE OUTPUT </a:t>
            </a:r>
          </a:p>
        </p:txBody>
      </p:sp>
      <p:sp>
        <p:nvSpPr>
          <p:cNvPr id="3" name="Slide Number Placeholder 2">
            <a:extLst>
              <a:ext uri="{FF2B5EF4-FFF2-40B4-BE49-F238E27FC236}">
                <a16:creationId xmlns:a16="http://schemas.microsoft.com/office/drawing/2014/main" id="{28910FC3-D2DA-A4D5-5E52-886BEC0A219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id="{2B38E2A9-D83E-A01E-8A6F-C1965A3DE07C}"/>
              </a:ext>
            </a:extLst>
          </p:cNvPr>
          <p:cNvPicPr>
            <a:picLocks noChangeAspect="1"/>
          </p:cNvPicPr>
          <p:nvPr/>
        </p:nvPicPr>
        <p:blipFill>
          <a:blip r:embed="rId2"/>
          <a:srcRect/>
          <a:stretch/>
        </p:blipFill>
        <p:spPr>
          <a:xfrm>
            <a:off x="1035424" y="1380676"/>
            <a:ext cx="7046553" cy="2850777"/>
          </a:xfrm>
          <a:prstGeom prst="rect">
            <a:avLst/>
          </a:prstGeom>
        </p:spPr>
      </p:pic>
    </p:spTree>
    <p:extLst>
      <p:ext uri="{BB962C8B-B14F-4D97-AF65-F5344CB8AC3E}">
        <p14:creationId xmlns:p14="http://schemas.microsoft.com/office/powerpoint/2010/main" val="105730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Results and Discussion</a:t>
            </a:r>
            <a:endParaRPr b="1">
              <a:solidFill>
                <a:schemeClr val="dk1"/>
              </a:solidFill>
              <a:latin typeface="Times New Roman"/>
              <a:ea typeface="Times New Roman"/>
              <a:cs typeface="Times New Roman"/>
              <a:sym typeface="Times New Roman"/>
            </a:endParaRPr>
          </a:p>
        </p:txBody>
      </p:sp>
      <p:sp>
        <p:nvSpPr>
          <p:cNvPr id="188" name="Google Shape;188;p1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sp>
        <p:nvSpPr>
          <p:cNvPr id="189" name="Google Shape;189;p12"/>
          <p:cNvSpPr txBox="1">
            <a:spLocks noGrp="1"/>
          </p:cNvSpPr>
          <p:nvPr>
            <p:ph type="body" idx="1"/>
          </p:nvPr>
        </p:nvSpPr>
        <p:spPr>
          <a:xfrm>
            <a:off x="457200" y="960596"/>
            <a:ext cx="8229600" cy="3703320"/>
          </a:xfrm>
          <a:prstGeom prst="rect">
            <a:avLst/>
          </a:prstGeom>
          <a:noFill/>
          <a:ln>
            <a:noFill/>
          </a:ln>
        </p:spPr>
        <p:txBody>
          <a:bodyPr spcFirstLastPara="1" wrap="square" lIns="91425" tIns="45700" rIns="91425" bIns="45700" anchor="t" anchorCtr="0">
            <a:normAutofit/>
          </a:bodyPr>
          <a:lstStyle/>
          <a:p>
            <a:pPr marL="125476" lvl="0" indent="0" algn="l" rtl="0">
              <a:spcBef>
                <a:spcPts val="0"/>
              </a:spcBef>
              <a:spcAft>
                <a:spcPts val="0"/>
              </a:spcAft>
              <a:buSzPts val="1976"/>
              <a:buNone/>
            </a:pPr>
            <a:r>
              <a:rPr lang="en-US" dirty="0"/>
              <a:t>The Hospital Patient Records Management System was successfully implemented using the C programming language with an AVL Tree as the core data structure. The following results were observed during testing:</a:t>
            </a:r>
          </a:p>
          <a:p>
            <a:pPr marL="125476" lvl="0" indent="0" algn="l" rtl="0">
              <a:spcBef>
                <a:spcPts val="0"/>
              </a:spcBef>
              <a:spcAft>
                <a:spcPts val="0"/>
              </a:spcAft>
              <a:buSzPts val="1976"/>
              <a:buNone/>
            </a:pPr>
            <a:endParaRPr lang="en-US" dirty="0"/>
          </a:p>
          <a:p>
            <a:pPr marL="639826" lvl="0" indent="-514350" algn="l" rtl="0">
              <a:spcBef>
                <a:spcPts val="0"/>
              </a:spcBef>
              <a:spcAft>
                <a:spcPts val="0"/>
              </a:spcAft>
              <a:buSzPts val="1976"/>
              <a:buFont typeface="+mj-lt"/>
              <a:buAutoNum type="arabicPeriod"/>
            </a:pPr>
            <a:r>
              <a:rPr lang="en-US" dirty="0"/>
              <a:t>Efficient Data Insertion.</a:t>
            </a:r>
          </a:p>
          <a:p>
            <a:pPr marL="639826" lvl="0" indent="-514350" algn="l" rtl="0">
              <a:spcBef>
                <a:spcPts val="0"/>
              </a:spcBef>
              <a:spcAft>
                <a:spcPts val="0"/>
              </a:spcAft>
              <a:buSzPts val="1976"/>
              <a:buFont typeface="+mj-lt"/>
              <a:buAutoNum type="arabicPeriod"/>
            </a:pPr>
            <a:r>
              <a:rPr lang="en-US" dirty="0"/>
              <a:t>Fast Retrieval and Search.</a:t>
            </a:r>
          </a:p>
          <a:p>
            <a:pPr marL="639826" lvl="0" indent="-514350" algn="l" rtl="0">
              <a:spcBef>
                <a:spcPts val="0"/>
              </a:spcBef>
              <a:spcAft>
                <a:spcPts val="0"/>
              </a:spcAft>
              <a:buSzPts val="1976"/>
              <a:buFont typeface="+mj-lt"/>
              <a:buAutoNum type="arabicPeriod"/>
            </a:pPr>
            <a:r>
              <a:rPr lang="en-US" dirty="0"/>
              <a:t>Correct Tree Balancing.</a:t>
            </a:r>
          </a:p>
          <a:p>
            <a:pPr marL="639826" lvl="0" indent="-514350" algn="l" rtl="0">
              <a:spcBef>
                <a:spcPts val="0"/>
              </a:spcBef>
              <a:spcAft>
                <a:spcPts val="0"/>
              </a:spcAft>
              <a:buSzPts val="1976"/>
              <a:buFont typeface="+mj-lt"/>
              <a:buAutoNum type="arabicPeriod"/>
            </a:pPr>
            <a:r>
              <a:rPr lang="en-US" dirty="0"/>
              <a:t>Function Module Description.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a:spLocks noGrp="1"/>
          </p:cNvSpPr>
          <p:nvPr>
            <p:ph type="title"/>
          </p:nvPr>
        </p:nvSpPr>
        <p:spPr>
          <a:xfrm>
            <a:off x="457200" y="114300"/>
            <a:ext cx="8229600" cy="7431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Results and Discussion</a:t>
            </a:r>
            <a:endParaRPr b="1">
              <a:solidFill>
                <a:schemeClr val="dk1"/>
              </a:solidFill>
              <a:latin typeface="Times New Roman"/>
              <a:ea typeface="Times New Roman"/>
              <a:cs typeface="Times New Roman"/>
              <a:sym typeface="Times New Roman"/>
            </a:endParaRPr>
          </a:p>
        </p:txBody>
      </p:sp>
      <p:sp>
        <p:nvSpPr>
          <p:cNvPr id="195" name="Google Shape;195;p13"/>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1400"/>
              <a:buFont typeface="Gill Sans"/>
              <a:buNone/>
            </a:pPr>
            <a:fld id="{00000000-1234-1234-1234-123412341234}" type="slidenum">
              <a:rPr lang="en-US"/>
              <a:t>12</a:t>
            </a:fld>
            <a:endParaRPr/>
          </a:p>
        </p:txBody>
      </p:sp>
      <p:sp>
        <p:nvSpPr>
          <p:cNvPr id="196" name="Google Shape;196;p13"/>
          <p:cNvSpPr txBox="1">
            <a:spLocks noGrp="1"/>
          </p:cNvSpPr>
          <p:nvPr>
            <p:ph type="body" idx="1"/>
          </p:nvPr>
        </p:nvSpPr>
        <p:spPr>
          <a:xfrm>
            <a:off x="457200" y="1064063"/>
            <a:ext cx="8229600" cy="3703200"/>
          </a:xfrm>
          <a:prstGeom prst="rect">
            <a:avLst/>
          </a:prstGeom>
          <a:noFill/>
          <a:ln>
            <a:noFill/>
          </a:ln>
        </p:spPr>
        <p:txBody>
          <a:bodyPr spcFirstLastPara="1" wrap="square" lIns="91425" tIns="45700" rIns="91425" bIns="45700" anchor="t" anchorCtr="0">
            <a:normAutofit fontScale="92500" lnSpcReduction="10000"/>
          </a:bodyPr>
          <a:lstStyle/>
          <a:p>
            <a:pPr marL="582676" indent="-457200">
              <a:spcBef>
                <a:spcPts val="0"/>
              </a:spcBef>
              <a:buSzPts val="1976"/>
            </a:pPr>
            <a:r>
              <a:rPr lang="en-US" dirty="0"/>
              <a:t>  This project demonstrated how data structure concepts like AVL Trees can be effectively used in healthcare applications for fast and structured data management. Compared to linear or unbalanced tree structures, the AVL Tree maintained a consistent and optimal performance, particularly as the number of patient records increased.</a:t>
            </a:r>
          </a:p>
          <a:p>
            <a:pPr marL="125476" indent="0">
              <a:spcBef>
                <a:spcPts val="0"/>
              </a:spcBef>
              <a:buSzPts val="1976"/>
              <a:buNone/>
            </a:pPr>
            <a:endParaRPr lang="en-US" dirty="0"/>
          </a:p>
          <a:p>
            <a:pPr marL="582676" indent="-457200">
              <a:spcBef>
                <a:spcPts val="0"/>
              </a:spcBef>
              <a:buSzPts val="1976"/>
            </a:pPr>
            <a:r>
              <a:rPr lang="en-US" dirty="0"/>
              <a:t>The system proves to be a scalable, high-performance solution for hospital record management using basic but powerful data structures in 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4"/>
          <p:cNvSpPr txBox="1">
            <a:spLocks noGrp="1"/>
          </p:cNvSpPr>
          <p:nvPr>
            <p:ph type="title"/>
          </p:nvPr>
        </p:nvSpPr>
        <p:spPr>
          <a:xfrm>
            <a:off x="457200" y="11430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3200"/>
              <a:buFont typeface="Times New Roman"/>
              <a:buNone/>
            </a:pPr>
            <a:r>
              <a:rPr lang="en-US" b="1">
                <a:solidFill>
                  <a:schemeClr val="dk1"/>
                </a:solidFill>
                <a:latin typeface="Times New Roman"/>
                <a:ea typeface="Times New Roman"/>
                <a:cs typeface="Times New Roman"/>
                <a:sym typeface="Times New Roman"/>
              </a:rPr>
              <a:t>Conclusion</a:t>
            </a:r>
            <a:endParaRPr b="1">
              <a:solidFill>
                <a:schemeClr val="dk1"/>
              </a:solidFill>
              <a:latin typeface="Times New Roman"/>
              <a:ea typeface="Times New Roman"/>
              <a:cs typeface="Times New Roman"/>
              <a:sym typeface="Times New Roman"/>
            </a:endParaRPr>
          </a:p>
        </p:txBody>
      </p:sp>
      <p:sp>
        <p:nvSpPr>
          <p:cNvPr id="202" name="Google Shape;202;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13</a:t>
            </a:fld>
            <a:endParaRPr/>
          </a:p>
        </p:txBody>
      </p:sp>
      <p:sp>
        <p:nvSpPr>
          <p:cNvPr id="203" name="Google Shape;203;p14"/>
          <p:cNvSpPr txBox="1">
            <a:spLocks noGrp="1"/>
          </p:cNvSpPr>
          <p:nvPr>
            <p:ph type="body" idx="1"/>
          </p:nvPr>
        </p:nvSpPr>
        <p:spPr>
          <a:xfrm>
            <a:off x="457200" y="1201103"/>
            <a:ext cx="8229600" cy="3703320"/>
          </a:xfrm>
          <a:prstGeom prst="rect">
            <a:avLst/>
          </a:prstGeom>
          <a:noFill/>
          <a:ln>
            <a:noFill/>
          </a:ln>
        </p:spPr>
        <p:txBody>
          <a:bodyPr spcFirstLastPara="1" wrap="square" lIns="91425" tIns="45700" rIns="91425" bIns="45700" anchor="t" anchorCtr="0">
            <a:normAutofit fontScale="77500" lnSpcReduction="20000"/>
          </a:bodyPr>
          <a:lstStyle/>
          <a:p>
            <a:pPr marL="582676" indent="-457200">
              <a:spcBef>
                <a:spcPts val="0"/>
              </a:spcBef>
              <a:buSzPts val="1976"/>
            </a:pPr>
            <a:r>
              <a:rPr lang="en-US" dirty="0"/>
              <a:t>  The Hospital Patient Records Management System using AVL Trees in C demonstrates how efficient data handling can be achieved through self-balancing binary search trees. By maintaining balance after every insertion and deletion, the system ensures fast access to patient records, making it suitable for real-time hospital use. </a:t>
            </a:r>
          </a:p>
          <a:p>
            <a:pPr marL="125476" indent="0">
              <a:spcBef>
                <a:spcPts val="0"/>
              </a:spcBef>
              <a:buSzPts val="1976"/>
              <a:buNone/>
            </a:pPr>
            <a:endParaRPr lang="en-US" dirty="0"/>
          </a:p>
          <a:p>
            <a:pPr marL="582676" indent="-457200">
              <a:spcBef>
                <a:spcPts val="0"/>
              </a:spcBef>
              <a:buSzPts val="1976"/>
            </a:pPr>
            <a:r>
              <a:rPr lang="en-US" dirty="0"/>
              <a:t>The implementation highlights the importance of data structures in building scalable and responsive applications, while also reinforcing key C programming concepts like pointers, dynamic memory, and modular design. </a:t>
            </a:r>
          </a:p>
          <a:p>
            <a:pPr marL="125476" indent="0">
              <a:spcBef>
                <a:spcPts val="0"/>
              </a:spcBef>
              <a:buSzPts val="1976"/>
              <a:buNone/>
            </a:pPr>
            <a:endParaRPr lang="en-US" dirty="0"/>
          </a:p>
          <a:p>
            <a:pPr marL="582676" indent="-457200">
              <a:spcBef>
                <a:spcPts val="0"/>
              </a:spcBef>
              <a:buSzPts val="1976"/>
            </a:pPr>
            <a:r>
              <a:rPr lang="en-US" dirty="0"/>
              <a:t>Overall, the project is efficient, maintainable, and provides a solid foundation for future enhancements in healthcare systems.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5"/>
          <p:cNvSpPr txBox="1">
            <a:spLocks noGrp="1"/>
          </p:cNvSpPr>
          <p:nvPr>
            <p:ph type="title"/>
          </p:nvPr>
        </p:nvSpPr>
        <p:spPr>
          <a:xfrm>
            <a:off x="457200" y="2107827"/>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dk1"/>
              </a:buClr>
              <a:buSzPct val="100000"/>
              <a:buFont typeface="Times New Roman"/>
              <a:buNone/>
            </a:pPr>
            <a:r>
              <a:rPr lang="en-US" sz="4400" b="1">
                <a:solidFill>
                  <a:schemeClr val="dk1"/>
                </a:solidFill>
                <a:latin typeface="Times New Roman"/>
                <a:ea typeface="Times New Roman"/>
                <a:cs typeface="Times New Roman"/>
                <a:sym typeface="Times New Roman"/>
              </a:rPr>
              <a:t>Thank  You</a:t>
            </a:r>
            <a:endParaRPr sz="4000" b="1">
              <a:solidFill>
                <a:schemeClr val="dk1"/>
              </a:solidFill>
              <a:latin typeface="Times New Roman"/>
              <a:ea typeface="Times New Roman"/>
              <a:cs typeface="Times New Roman"/>
              <a:sym typeface="Times New Roman"/>
            </a:endParaRPr>
          </a:p>
        </p:txBody>
      </p:sp>
      <p:sp>
        <p:nvSpPr>
          <p:cNvPr id="209" name="Google Shape;209;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14</a:t>
            </a:fld>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14</Slides>
  <Notes>13</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Origin</vt:lpstr>
      <vt:lpstr>EGB1121 - DATA STRUCTURES  PROJECT REVIEW</vt:lpstr>
      <vt:lpstr>Title of the Project</vt:lpstr>
      <vt:lpstr>Abstract </vt:lpstr>
      <vt:lpstr>Introduction</vt:lpstr>
      <vt:lpstr>Data Structures  - Concepts Used</vt:lpstr>
      <vt:lpstr>Proposed Architecture</vt:lpstr>
      <vt:lpstr>Proposed Architecture - Description</vt:lpstr>
      <vt:lpstr>List of Modules</vt:lpstr>
      <vt:lpstr>Module Description</vt:lpstr>
      <vt:lpstr>                    CODE OUTPUT </vt:lpstr>
      <vt:lpstr>Results and Discussion</vt:lpstr>
      <vt:lpstr>Results and Discussion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EGB1121 - DATA STRUCTURES  PROJECT REVIEW</dc:title>
  <cp:lastModifiedBy>suji187cf@gmail.com</cp:lastModifiedBy>
  <cp:revision>2</cp:revision>
  <dcterms:modified xsi:type="dcterms:W3CDTF">2025-06-11T06:25:00Z</dcterms:modified>
</cp:coreProperties>
</file>